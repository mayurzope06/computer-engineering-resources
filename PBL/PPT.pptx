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58" r:id="rId3"/>
    <p:sldId id="287" r:id="rId4"/>
    <p:sldId id="289" r:id="rId5"/>
    <p:sldId id="290" r:id="rId6"/>
    <p:sldId id="288" r:id="rId7"/>
    <p:sldId id="291" r:id="rId8"/>
    <p:sldId id="296" r:id="rId9"/>
    <p:sldId id="297" r:id="rId10"/>
    <p:sldId id="298" r:id="rId11"/>
    <p:sldId id="299" r:id="rId12"/>
    <p:sldId id="285" r:id="rId13"/>
    <p:sldId id="29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B7F2CCD-1023-4337-A428-C1FCF1FE8203}">
          <p14:sldIdLst>
            <p14:sldId id="257"/>
            <p14:sldId id="258"/>
          </p14:sldIdLst>
        </p14:section>
        <p14:section name="Untitled Section" id="{BFEF16BB-AF71-439A-96C7-551A376DBC6F}">
          <p14:sldIdLst>
            <p14:sldId id="287"/>
            <p14:sldId id="289"/>
            <p14:sldId id="290"/>
            <p14:sldId id="288"/>
            <p14:sldId id="291"/>
            <p14:sldId id="296"/>
            <p14:sldId id="297"/>
            <p14:sldId id="298"/>
            <p14:sldId id="299"/>
            <p14:sldId id="285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30DED-3FCA-4494-8EF0-BA6A869B630F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7B830-2464-4267-BF3A-7C7A6808C5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150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C2C44-125A-4630-B882-008C4B26D29A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75916-D48A-4C31-90D0-74221599E1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1077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284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490CD-C2D6-44C5-8E77-27634422FF14}" type="datetime1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305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13FF-B9AB-4341-A258-AC11B9A4A252}" type="datetime1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20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1EEF-8F19-42A5-9456-884C5BF49E6B}" type="datetime1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325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5D20-BDC4-455F-9FF5-A29B8EE7BEF2}" type="datetime1">
              <a:rPr lang="en-US" smtClean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518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EFCEF-08DC-432D-8619-71EBE9C0A37E}" type="datetime1">
              <a:rPr lang="en-US" smtClean="0"/>
              <a:t>3/21/2025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66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042D-5FE6-4324-9537-21848E98AC24}" type="datetime1">
              <a:rPr lang="en-US" smtClean="0"/>
              <a:t>3/21/2025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103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C0979-E5ED-4DD0-9804-0DD961A86926}" type="datetime1">
              <a:rPr lang="en-US" smtClean="0"/>
              <a:t>3/21/2025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45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3BA3E-F44F-4FB8-836A-B52D2C5D73F9}" type="datetime1">
              <a:rPr lang="en-US" smtClean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4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E7D7-D54B-407F-8E47-C89E07DB8830}" type="datetime1">
              <a:rPr lang="en-US" smtClean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91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8E3E5-01A7-4DF4-B5C6-065DA1A1B0B7}" type="datetime1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21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F8826-BFE4-408F-B103-3A03FD5343BB}" type="datetime1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085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BA893-EECE-4B63-B211-C8C27D19E757}" type="datetime1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3619D-74A4-489F-B67E-0DFC94E90F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66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article/10.1007/s10515-024-00426-z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repo.ijiert.org/index.php/ijiert/article/view/1334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researchgate.net/publication/378542081_A_Comparative_Review_of_AI_Techniques_for_Automated_Code_Generation_in_Software_Development_Advancements_Challenges_and_Future_Directions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/>
        </p:nvSpPr>
        <p:spPr>
          <a:xfrm>
            <a:off x="3242257" y="244961"/>
            <a:ext cx="6181137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b="1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1813905" y="703890"/>
            <a:ext cx="8428777" cy="678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R="5080" algn="ctr"/>
            <a:r>
              <a:rPr lang="en-GB" sz="2400" b="1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  <a:endParaRPr sz="2400" b="1" dirty="0">
              <a:solidFill>
                <a:srgbClr val="002060"/>
              </a:solidFill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44F0BD-298C-6D35-C573-5B6CF26A4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77" y="75380"/>
            <a:ext cx="1756756" cy="855689"/>
          </a:xfrm>
          <a:prstGeom prst="rect">
            <a:avLst/>
          </a:prstGeom>
        </p:spPr>
      </p:pic>
      <p:pic>
        <p:nvPicPr>
          <p:cNvPr id="1026" name="Picture 2" descr="PCET Trust Logo">
            <a:extLst>
              <a:ext uri="{FF2B5EF4-FFF2-40B4-BE49-F238E27FC236}">
                <a16:creationId xmlns:a16="http://schemas.microsoft.com/office/drawing/2014/main" id="{C763846A-031E-7C01-742D-C5B164D13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682" y="112598"/>
            <a:ext cx="1759037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EF184F-50A3-AE71-09A6-ED7A6B34A4C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0494" b="1925"/>
          <a:stretch/>
        </p:blipFill>
        <p:spPr>
          <a:xfrm>
            <a:off x="-293" y="2227385"/>
            <a:ext cx="12192000" cy="35921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Parallelogram 3"/>
          <p:cNvSpPr/>
          <p:nvPr/>
        </p:nvSpPr>
        <p:spPr>
          <a:xfrm flipH="1">
            <a:off x="0" y="6351744"/>
            <a:ext cx="6332826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6361" y="6420206"/>
            <a:ext cx="5909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Academic Year 2024-25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4136" y="6351744"/>
            <a:ext cx="4943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rebuchet MS" panose="020B0603020202020204" pitchFamily="34" charset="0"/>
              </a:rPr>
              <a:t>https://www.nmiet.edu.in/index.php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21181" y="6341523"/>
            <a:ext cx="541893" cy="512601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12482" y="5811396"/>
            <a:ext cx="4923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210258-Project based Learning II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2846" y="1446445"/>
            <a:ext cx="638572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Computer Engineering</a:t>
            </a:r>
          </a:p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NBA Accredited</a:t>
            </a:r>
          </a:p>
        </p:txBody>
      </p:sp>
    </p:spTree>
    <p:extLst>
      <p:ext uri="{BB962C8B-B14F-4D97-AF65-F5344CB8AC3E}">
        <p14:creationId xmlns:p14="http://schemas.microsoft.com/office/powerpoint/2010/main" val="100535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/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3"/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PBL,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A.Y. 2024-25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/>
          <p:cNvSpPr txBox="1"/>
          <p:nvPr/>
        </p:nvSpPr>
        <p:spPr>
          <a:xfrm>
            <a:off x="3494147" y="30421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/>
          <p:cNvSpPr txBox="1">
            <a:spLocks/>
          </p:cNvSpPr>
          <p:nvPr/>
        </p:nvSpPr>
        <p:spPr>
          <a:xfrm>
            <a:off x="1724229" y="344136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44F0BD-298C-6D35-C573-5B6CF26A46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C763846A-031E-7C01-742D-C5B164D13A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27480" y="68478"/>
            <a:ext cx="993750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9830507" y="1496749"/>
            <a:ext cx="3123568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/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/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/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/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/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1978044" y="1107850"/>
            <a:ext cx="8132618" cy="52273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>
            <a:normAutofit fontScale="8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800" b="1" dirty="0">
                <a:latin typeface="Times New Roman" panose="02020603050405020304" pitchFamily="18" charset="0"/>
              </a:rPr>
              <a:t>A</a:t>
            </a:r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</a:rPr>
              <a:t>Project Presentation</a:t>
            </a:r>
            <a:endParaRPr lang="en-IN" sz="1800" b="1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1800" b="1" dirty="0">
                <a:latin typeface="Times New Roman" panose="02020603050405020304" pitchFamily="18" charset="0"/>
              </a:rPr>
              <a:t>on</a:t>
            </a:r>
            <a:endParaRPr lang="en-IN" sz="2100" b="1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2400" b="1" dirty="0">
                <a:latin typeface="Times New Roman" panose="02020603050405020304" pitchFamily="18" charset="0"/>
              </a:rPr>
              <a:t>“</a:t>
            </a:r>
            <a:r>
              <a:rPr lang="en-US" sz="2400" b="1" u="sng" dirty="0">
                <a:latin typeface="Times New Roman" panose="02020603050405020304" pitchFamily="18" charset="0"/>
              </a:rPr>
              <a:t>CodeFlow AI </a:t>
            </a:r>
            <a:r>
              <a:rPr lang="en-US" sz="2400" b="1" dirty="0">
                <a:latin typeface="Times New Roman" panose="02020603050405020304" pitchFamily="18" charset="0"/>
              </a:rPr>
              <a:t>: </a:t>
            </a:r>
          </a:p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</a:rPr>
              <a:t>AI Engineer for Full-Stack Application Development</a:t>
            </a:r>
            <a:r>
              <a:rPr lang="en-IN" sz="2400" b="1" dirty="0">
                <a:latin typeface="Times New Roman" panose="02020603050405020304" pitchFamily="18" charset="0"/>
              </a:rPr>
              <a:t>”</a:t>
            </a:r>
          </a:p>
          <a:p>
            <a:pPr marL="0" indent="0" algn="ctr">
              <a:buNone/>
            </a:pPr>
            <a:endParaRPr lang="en-GB" sz="21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GB" sz="21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Prepared By</a:t>
            </a:r>
          </a:p>
          <a:p>
            <a:pPr marL="0" indent="0" algn="ctr">
              <a:buNone/>
            </a:pPr>
            <a:endParaRPr lang="en-IN" sz="21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1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TIRTHA ZOLDEO	        	    S1905504429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IN" sz="21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1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YASH KISHOR CHAUDHARY  S1905504445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1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1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ZOPE MAYUR UMAKANT	    S1905504450                    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1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IN" sz="2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IN" sz="21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1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1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Neha Bhagwat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IN" sz="21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PCET’S &amp; NMVPM’S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NUTAN MAHARASHTRA INSTT. OF ENGG. &amp; TECH. Pune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IN" sz="1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67044" y="622355"/>
            <a:ext cx="3957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108891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C63A1-2CEC-299A-27F4-A4755553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9081654B-F810-BBA0-CBA5-0E251A1036A1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BE3A40C-B3F2-4FDC-9D19-B6D6C6777566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6BAADCE7-11A7-C902-9673-AEC7D623876A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8CC167-4030-480B-7282-54C0A5B48679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PBL, 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A.Y. 2024-25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17B47C-3561-E743-9B03-1E91F811DE46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838F1C-CA60-22CD-51D3-60F729F503A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8DEE75B3-A0D8-7503-3056-921D392EB6D0}"/>
              </a:ext>
            </a:extLst>
          </p:cNvPr>
          <p:cNvSpPr txBox="1"/>
          <p:nvPr/>
        </p:nvSpPr>
        <p:spPr>
          <a:xfrm>
            <a:off x="3494147" y="30421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131DF596-3C76-E009-5D32-CA0F64B493C1}"/>
              </a:ext>
            </a:extLst>
          </p:cNvPr>
          <p:cNvSpPr txBox="1">
            <a:spLocks/>
          </p:cNvSpPr>
          <p:nvPr/>
        </p:nvSpPr>
        <p:spPr>
          <a:xfrm>
            <a:off x="1724229" y="344136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1CB6DA-AD8A-E1ED-217D-C0090F48B8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97521C46-CFAD-B127-5720-8426B28FC5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27480" y="68478"/>
            <a:ext cx="993750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27">
            <a:extLst>
              <a:ext uri="{FF2B5EF4-FFF2-40B4-BE49-F238E27FC236}">
                <a16:creationId xmlns:a16="http://schemas.microsoft.com/office/drawing/2014/main" id="{0292E10D-34F8-9101-BFBD-762E494E1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171" y="1201771"/>
            <a:ext cx="10427430" cy="419558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Contents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F870B37-95E0-D037-0902-26121E85C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171" y="1820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Title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Team members and roles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Objectives/Goal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Methodology/Architecture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Expected Outcome 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585F5B-A8B4-F691-3083-A86AC1A7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1703270-0A00-641B-3A59-9E9887603EBE}"/>
              </a:ext>
            </a:extLst>
          </p:cNvPr>
          <p:cNvGrpSpPr/>
          <p:nvPr/>
        </p:nvGrpSpPr>
        <p:grpSpPr>
          <a:xfrm>
            <a:off x="9982200" y="1260183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A87C311-8520-3E25-6522-5FB345D5391E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244A6D-3766-59B7-063C-2F95AFA7F4C9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C3AAAB1-CABC-1240-36B8-8A062BB40A3B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02559DF-3809-9F3B-E2B6-3C34D03E0A47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7CD89D-3249-45DA-DA8D-5AE6B5E7D27F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FC3D52D-7857-EBE0-415A-48E81F968E86}"/>
              </a:ext>
            </a:extLst>
          </p:cNvPr>
          <p:cNvSpPr/>
          <p:nvPr/>
        </p:nvSpPr>
        <p:spPr>
          <a:xfrm>
            <a:off x="4167044" y="622355"/>
            <a:ext cx="3957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3975481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CAB95-162A-9726-8839-29B117F1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061C0B0C-951F-4B4E-C8CA-C2E89F589B2B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121FB1A-C2B4-EF97-5B6E-277EDA6CEF85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AA068237-3062-0163-84B4-F0520B3D9F42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94359-2151-DA68-169F-9280BA32A530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PBL, 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A.Y. 2024-25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648C7B-E13A-D7CF-29F3-9574BB8154FF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CBBB85-EB74-2F8C-FDC6-5D3265B190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350FFADE-E722-0098-E49D-1BB9C5A5AC80}"/>
              </a:ext>
            </a:extLst>
          </p:cNvPr>
          <p:cNvSpPr txBox="1"/>
          <p:nvPr/>
        </p:nvSpPr>
        <p:spPr>
          <a:xfrm>
            <a:off x="3494147" y="30421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639D563C-63BD-EC87-1634-6FB71D8EF8CF}"/>
              </a:ext>
            </a:extLst>
          </p:cNvPr>
          <p:cNvSpPr txBox="1">
            <a:spLocks/>
          </p:cNvSpPr>
          <p:nvPr/>
        </p:nvSpPr>
        <p:spPr>
          <a:xfrm>
            <a:off x="1724229" y="344136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4B884C-232F-B5AB-27AD-4E49204D05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58627ABC-76E7-D643-EED2-5A67D68F3A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27480" y="68478"/>
            <a:ext cx="993750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15F09F-8902-52F7-58E5-9E84B4D5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F5666A-4BEC-44B2-30DA-9F1C0C9F873A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E15D338-0FCC-3CBD-E38F-535E3FE4EA29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C275FE7-29B2-6824-AED9-9AB6127B9B07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32CBF78-46BD-211E-590D-764A629D6F6B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1CD0E83-7407-6CC8-07FB-AC3AA5F63B05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DAEC8C6-492E-0765-8F96-3FB06C8D71CE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0C21406-9B18-A713-2589-9FE277A8521C}"/>
              </a:ext>
            </a:extLst>
          </p:cNvPr>
          <p:cNvSpPr/>
          <p:nvPr/>
        </p:nvSpPr>
        <p:spPr>
          <a:xfrm>
            <a:off x="4167044" y="622355"/>
            <a:ext cx="3957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56B7C-C916-9048-1ADA-742B38555B28}"/>
              </a:ext>
            </a:extLst>
          </p:cNvPr>
          <p:cNvSpPr txBox="1"/>
          <p:nvPr/>
        </p:nvSpPr>
        <p:spPr>
          <a:xfrm>
            <a:off x="289626" y="1081577"/>
            <a:ext cx="937263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CodeFlow AI is an AI-powered platform designed to automate full-stack application development. CodeFlow AI aims to significantly improve developer productivity, reduce development costs, and enhance the overall quality of software applications to save time and effort while ensuring efficiency. </a:t>
            </a:r>
          </a:p>
          <a:p>
            <a:r>
              <a:rPr lang="en-US" b="1" dirty="0"/>
              <a:t>The Evolving Landscape of Software Development</a:t>
            </a:r>
            <a:endParaRPr lang="en-US" dirty="0"/>
          </a:p>
          <a:p>
            <a:r>
              <a:rPr lang="en-US" dirty="0"/>
              <a:t>Software development is a cornerstone of our digital world, driving innovation across industries. However, traditional development methods often face challenges such as: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Time-consuming manual coding:</a:t>
            </a:r>
            <a:r>
              <a:rPr lang="en-US" dirty="0"/>
              <a:t> Writing and debugging code can be a lengthy and error-prone process.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Difficulty in finding and fixing bugs:</a:t>
            </a:r>
            <a:r>
              <a:rPr lang="en-US" dirty="0"/>
              <a:t> Identifying and resolving software defects can be time-consuming and costly.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 development costs:</a:t>
            </a:r>
            <a:r>
              <a:rPr lang="en-US" dirty="0"/>
              <a:t> The overall cost of software development, including labor and resources, can be significant.</a:t>
            </a:r>
          </a:p>
        </p:txBody>
      </p:sp>
    </p:spTree>
    <p:extLst>
      <p:ext uri="{BB962C8B-B14F-4D97-AF65-F5344CB8AC3E}">
        <p14:creationId xmlns:p14="http://schemas.microsoft.com/office/powerpoint/2010/main" val="131357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E1CB9-B2F5-A624-F197-982EE41C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13A7E169-F31A-0517-3A04-D43E5A19BEC5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39902C0-FD8B-6953-C338-AF83941FD8CE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FFCFB413-FE6E-E0D4-5A8E-05B77750B130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B06B6-1C45-99F1-6409-0FA055662344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PBL, 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A.Y. 2024-25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DBF2A0-47BA-6FD7-0F29-12B676476D31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575EF6-C586-FC4C-1344-83A157FF49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2C209C68-60DA-B95E-B41F-6F190CB8DCF9}"/>
              </a:ext>
            </a:extLst>
          </p:cNvPr>
          <p:cNvSpPr txBox="1"/>
          <p:nvPr/>
        </p:nvSpPr>
        <p:spPr>
          <a:xfrm>
            <a:off x="3494147" y="30421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4641D161-6BAE-D625-F5DF-BC5EBD7E87F7}"/>
              </a:ext>
            </a:extLst>
          </p:cNvPr>
          <p:cNvSpPr txBox="1">
            <a:spLocks/>
          </p:cNvSpPr>
          <p:nvPr/>
        </p:nvSpPr>
        <p:spPr>
          <a:xfrm>
            <a:off x="1724229" y="344136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086B1B-3E4A-E25E-B22E-B56AD90DB7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ACEA3D96-7081-9CFF-9542-7A94564DE9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27480" y="68478"/>
            <a:ext cx="993750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CC1FFA-DE37-8C27-11E9-129A6E72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E10A6F2-1B30-BE91-EBD5-7C1706DF9D39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1950F8F-934A-C7A1-0107-D31182ECE9CF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740D95B-4A7E-6FF6-DEB9-D9D854F9B60F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81341FF-DFEF-976B-E43D-D07E3F3FA301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86BA20F-B57E-2117-A96D-F8C474ED454D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3454015-9C2E-7D0A-CE68-A826EFAE71A5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5291C84-D803-AFFC-064C-4468D638A39A}"/>
              </a:ext>
            </a:extLst>
          </p:cNvPr>
          <p:cNvSpPr/>
          <p:nvPr/>
        </p:nvSpPr>
        <p:spPr>
          <a:xfrm>
            <a:off x="4167044" y="622355"/>
            <a:ext cx="3957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ED9EF9-9B7E-AFBC-9056-6E0C09224C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85" y="1060149"/>
            <a:ext cx="8047739" cy="52915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AA78A3-631D-46B3-B45E-847A496790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86" y="1060149"/>
            <a:ext cx="8047738" cy="529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77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85BEC-B5CA-3847-48C0-3FFE2C89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45C282A0-D3E6-CA4C-FACD-3F544F21243C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84090BF-4CC5-43FF-5763-1DC1B722E868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63EAD07F-74E5-560E-9607-E42ACB1BC136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28C1E9-78BE-302F-D4CF-5394EAF4449D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PBL, 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A.Y. 2024-25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02FFEB-7316-4353-1FF1-E8D8DB6E3814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DE3AAE-479F-E126-AF2B-131C6ADF177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BC3B8054-CA93-C648-EBE6-4F7A57FF57B6}"/>
              </a:ext>
            </a:extLst>
          </p:cNvPr>
          <p:cNvSpPr txBox="1"/>
          <p:nvPr/>
        </p:nvSpPr>
        <p:spPr>
          <a:xfrm>
            <a:off x="3494147" y="30421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1AA8C4F1-21F8-90DD-2602-5CDACCDADF90}"/>
              </a:ext>
            </a:extLst>
          </p:cNvPr>
          <p:cNvSpPr txBox="1">
            <a:spLocks/>
          </p:cNvSpPr>
          <p:nvPr/>
        </p:nvSpPr>
        <p:spPr>
          <a:xfrm>
            <a:off x="1724229" y="344136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612A6B-6653-5EA6-45FE-814E641FB6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6FCF21D2-B436-01FD-4B1A-76476DE320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27480" y="68478"/>
            <a:ext cx="993750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7085B2-5FEA-13F4-047A-5D4C66716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68734B0-BB0B-98B9-EF6D-31403C7AADA1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9B78DC2-8DE3-0364-4B79-C3178F0911C9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4F84A2E-F14D-FEA0-7AA2-2CCE5CE7FD9C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EAEE2A3-11FF-E707-0E2C-4297D2D9C679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534EE69-E7CF-0909-E999-56A7EC56121A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927431E-8F52-EF8C-9B30-83ABA165E18B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F5D81E4-397D-94A2-7474-90453DFF342E}"/>
              </a:ext>
            </a:extLst>
          </p:cNvPr>
          <p:cNvSpPr/>
          <p:nvPr/>
        </p:nvSpPr>
        <p:spPr>
          <a:xfrm>
            <a:off x="4167044" y="622355"/>
            <a:ext cx="3957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5310B4-25F1-79C8-8997-66E1B3AED3F0}"/>
              </a:ext>
            </a:extLst>
          </p:cNvPr>
          <p:cNvSpPr txBox="1"/>
          <p:nvPr/>
        </p:nvSpPr>
        <p:spPr>
          <a:xfrm>
            <a:off x="289977" y="1158089"/>
            <a:ext cx="892769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400" b="1" dirty="0">
                <a:latin typeface="Arial Black" panose="020B0A04020102020204" pitchFamily="34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endParaRPr lang="en-US" dirty="0"/>
          </a:p>
          <a:p>
            <a:r>
              <a:rPr lang="en-US" sz="2000" dirty="0"/>
              <a:t>Developing full-stack applications is time-consuming and requires expertise. CodeFlow AI aims to address these challenges by automating development, reducing time, and increasing accessibility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Current challenges in full-stack development: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Time-intensive processes.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Need for expertise in multiple domains.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Difficulty in finding and fixing bugs.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000" dirty="0"/>
              <a:t>High development costs</a:t>
            </a:r>
            <a:r>
              <a:rPr lang="en-US" sz="2000" dirty="0"/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How CodeFlow AI addresses these issues: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/>
              <a:t>Reduces development time.</a:t>
            </a:r>
            <a:endParaRPr lang="en-US" sz="20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000" dirty="0"/>
              <a:t>Seamless deployment.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Reduces dependency on extensive technical knowledge.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2816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F56DA-120D-A046-082F-3D2C5AC5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1C4D5882-B91C-A0B1-AB68-E44C42F84550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30FF98E-FE4C-120A-298B-37E8CAE446D5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46C5DDE9-4AF3-C7A4-8FE9-D70F5E602918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3C5B3-BB20-F0B8-5252-C8F259E18D4B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PBL, 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A.Y. 2024-25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323396-5FB1-409A-BDB8-145824296419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EDB3B8-93BA-5620-0795-B9C056C70D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8357422C-E924-3DF6-7790-C75689C6F530}"/>
              </a:ext>
            </a:extLst>
          </p:cNvPr>
          <p:cNvSpPr txBox="1"/>
          <p:nvPr/>
        </p:nvSpPr>
        <p:spPr>
          <a:xfrm>
            <a:off x="3494147" y="30421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3C491418-B4CA-9DB3-528E-C3DDD4DBEC62}"/>
              </a:ext>
            </a:extLst>
          </p:cNvPr>
          <p:cNvSpPr txBox="1">
            <a:spLocks/>
          </p:cNvSpPr>
          <p:nvPr/>
        </p:nvSpPr>
        <p:spPr>
          <a:xfrm>
            <a:off x="1724229" y="344136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4FCFE7-27DB-6F88-13E6-5A11110179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F9135990-2782-44A0-24D2-91F953F8FC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27480" y="68478"/>
            <a:ext cx="993750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6D4870-FD0A-4B6C-7348-84C1755D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FE57104-EE53-BF93-D786-260B62899EB5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F8234E9-5362-6DA1-FFAD-5164D74FE5B1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561F97B-F89B-7F61-A5A6-A54AECB5B7A6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EC9019-CC39-C459-7452-56A6EE39D2AA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B4608D1-7B68-8436-854C-63C18C39845F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2E48840-296B-412A-5871-09A243E9DF91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626480E-C7BD-B65A-8901-AFDB3A916B77}"/>
              </a:ext>
            </a:extLst>
          </p:cNvPr>
          <p:cNvSpPr/>
          <p:nvPr/>
        </p:nvSpPr>
        <p:spPr>
          <a:xfrm>
            <a:off x="4167044" y="622355"/>
            <a:ext cx="3957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6BDB8-C2FE-89A4-FE58-175D3E4CFD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77" y="1075785"/>
            <a:ext cx="8050960" cy="527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90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A5DD7-AC22-0D48-601C-36781A6B2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E18BC525-3402-0A5E-8336-D11A29A28227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43DAA95-462B-272E-E74B-EA0A098DDB8A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AA91CE20-D022-6B8F-2883-55F2F94D04DE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CA32BD-F492-5981-F483-EDEABB4F3AAE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PBL, 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A.Y. 2024-25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52C2D4-6B03-32D9-7470-318B4D3BFFB2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3D44025-6376-1469-D361-1C5DCE782A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4FA746E2-506E-5997-77F0-80E08617FA50}"/>
              </a:ext>
            </a:extLst>
          </p:cNvPr>
          <p:cNvSpPr txBox="1"/>
          <p:nvPr/>
        </p:nvSpPr>
        <p:spPr>
          <a:xfrm>
            <a:off x="3494147" y="30421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44A92D5B-A478-BFDC-53D7-CA3E4F78E728}"/>
              </a:ext>
            </a:extLst>
          </p:cNvPr>
          <p:cNvSpPr txBox="1">
            <a:spLocks/>
          </p:cNvSpPr>
          <p:nvPr/>
        </p:nvSpPr>
        <p:spPr>
          <a:xfrm>
            <a:off x="1724229" y="344136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6A64EC5-91FB-34A2-E1E7-35461238E1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F0BA59AD-7E17-B4D2-C1D7-FCD11DFF3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27480" y="68478"/>
            <a:ext cx="993750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49ADDB-061C-23E4-5F38-C50EB09D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D6A4C6E-979E-F37D-FD81-FC7CC37828D8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FD57D7C-DE62-3762-6CCC-EB66F4160EF8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2FC0F4E-DC67-86ED-2468-D42DF2C8BECC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759050-05DC-CBFA-5C4C-E27D5BC18FC3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E0AE0DB-3F61-2329-A9B2-5F1BD0DD567D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776B3E-EBB1-9BB3-3CC7-7E4743079623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14629C8-8125-2776-63F6-F996DDC409AF}"/>
              </a:ext>
            </a:extLst>
          </p:cNvPr>
          <p:cNvSpPr/>
          <p:nvPr/>
        </p:nvSpPr>
        <p:spPr>
          <a:xfrm>
            <a:off x="4167044" y="622355"/>
            <a:ext cx="3957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B403E0-8D7F-32FB-44B9-7BF8D11E4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94" y="2210697"/>
            <a:ext cx="9781452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0626EC-12BA-A1CA-0145-CAEB8A2E7C1C}"/>
              </a:ext>
            </a:extLst>
          </p:cNvPr>
          <p:cNvSpPr txBox="1"/>
          <p:nvPr/>
        </p:nvSpPr>
        <p:spPr>
          <a:xfrm>
            <a:off x="629265" y="1474839"/>
            <a:ext cx="372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Architecture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93945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9D73-308D-68D8-1D0D-B3E71CAE7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712EC0D0-D409-D35C-A8FF-5EDFC3B71E45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AD6750-DF0D-BF0D-4B62-6FE46CB8D0EE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CA4B82A9-F411-1806-2FE5-0833ACD5E1DF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96E96F-1E71-CA0A-E733-CB4AC05E01E2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PBL, 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A.Y. 2024-25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3210BF-85A4-7BF7-F241-A46CAD85D730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E284C7-97C2-2C97-B26F-2A2EFB77853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69FCAA3B-2E2C-2CDF-E442-0AD962489D4B}"/>
              </a:ext>
            </a:extLst>
          </p:cNvPr>
          <p:cNvSpPr txBox="1"/>
          <p:nvPr/>
        </p:nvSpPr>
        <p:spPr>
          <a:xfrm>
            <a:off x="3494147" y="30421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D8A4869F-1580-8372-9FB7-555FAB6854C9}"/>
              </a:ext>
            </a:extLst>
          </p:cNvPr>
          <p:cNvSpPr txBox="1">
            <a:spLocks/>
          </p:cNvSpPr>
          <p:nvPr/>
        </p:nvSpPr>
        <p:spPr>
          <a:xfrm>
            <a:off x="1724229" y="344136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6FE23A-10DB-C84D-0442-4BD5946AB4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96002679-F734-D5B2-B0AB-33078478A7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27480" y="68478"/>
            <a:ext cx="993750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44620-0815-F340-AE55-3D8BB1923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FAE519B-E276-9993-5C7F-131FF4A71BD6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EFAC98D-C67F-ABC1-6597-8A47430F3B79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80BC442-56C2-B7A8-899D-0E09D7CD93CA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8A34C0B-F363-61B9-AD02-36267991AE71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13EAE5A-7E38-82C3-1908-1831A4EBF374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3D698E2-B8CD-84FC-6D7C-327070D883C0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C8E6EC8-6529-5E72-05DE-550881EE5C50}"/>
              </a:ext>
            </a:extLst>
          </p:cNvPr>
          <p:cNvSpPr/>
          <p:nvPr/>
        </p:nvSpPr>
        <p:spPr>
          <a:xfrm>
            <a:off x="4167044" y="622355"/>
            <a:ext cx="3957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FE25D-AB48-8F67-71B2-816B589818AF}"/>
              </a:ext>
            </a:extLst>
          </p:cNvPr>
          <p:cNvSpPr txBox="1"/>
          <p:nvPr/>
        </p:nvSpPr>
        <p:spPr>
          <a:xfrm>
            <a:off x="289977" y="1343666"/>
            <a:ext cx="372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Expected Outcomes </a:t>
            </a:r>
            <a:endParaRPr lang="en-IN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8F3F94-B754-0BE7-F034-F1E2101561CA}"/>
              </a:ext>
            </a:extLst>
          </p:cNvPr>
          <p:cNvSpPr txBox="1"/>
          <p:nvPr/>
        </p:nvSpPr>
        <p:spPr>
          <a:xfrm>
            <a:off x="289977" y="1870824"/>
            <a:ext cx="88588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Reduced Technical Barriers</a:t>
            </a:r>
            <a:r>
              <a:rPr lang="en-US" dirty="0"/>
              <a:t> – Enables individuals without coding expertise to develop applications using natural language prompts, making software development more accessible.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Automated Error Detection &amp; Debugging</a:t>
            </a:r>
            <a:r>
              <a:rPr lang="en-US" dirty="0"/>
              <a:t> – Identifies and fixes coding errors in real-time, reducing development time and minimizing bugs in production.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Improved Code Quality &amp; Optimization</a:t>
            </a:r>
            <a:r>
              <a:rPr lang="en-US" dirty="0"/>
              <a:t> – Ensures adherence to best practices, optimized performance, and scalability through AI-driven self-coding.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Enhanced Developer Productivity</a:t>
            </a:r>
            <a:r>
              <a:rPr lang="en-US" dirty="0"/>
              <a:t> – Allows developers to focus on high-level architecture and problem-solving while the AI handles routine coding tasks.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End-to-End Application Development</a:t>
            </a:r>
            <a:r>
              <a:rPr lang="en-US" dirty="0"/>
              <a:t> – Manages front-end, back-end, database, and API integrations seamlessly.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7009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4A312-A844-4C31-3264-58B2F322E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94368314-3456-2050-7FD4-74C59FCF2028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BB283D7-BED7-83E7-1609-0D916F0A503C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6FCE6872-5C49-3F47-A1CA-AE3B6495476C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C5E78A-95C7-3845-04BE-A4325232B313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PBL, 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A.Y. 2024-25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52D924-5936-60DB-B8E0-F7EA9FA5C320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B2C6F5-B385-42E4-A8BF-93DDD1759A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D7D36C06-5C50-E55C-1365-2C7054837BD6}"/>
              </a:ext>
            </a:extLst>
          </p:cNvPr>
          <p:cNvSpPr txBox="1"/>
          <p:nvPr/>
        </p:nvSpPr>
        <p:spPr>
          <a:xfrm>
            <a:off x="3494147" y="30421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86F915E1-A066-6AB7-1E44-5EFCED3AC4B1}"/>
              </a:ext>
            </a:extLst>
          </p:cNvPr>
          <p:cNvSpPr txBox="1">
            <a:spLocks/>
          </p:cNvSpPr>
          <p:nvPr/>
        </p:nvSpPr>
        <p:spPr>
          <a:xfrm>
            <a:off x="1724229" y="344136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AD6C34-5DEB-55F8-3306-BF0E10060B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2220733F-ED41-4FEF-EC66-8B7854A821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27480" y="68478"/>
            <a:ext cx="993750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24E36E-7F9F-5A06-5CB0-DAD7FE61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767888-536E-4070-73E5-2501796BDB74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6B87F5F-77B9-76F1-35FE-C0D0EEA07F15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91221AD-3698-328E-C72D-B154F2EB5742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70E1B2D-A8D4-93EB-4E68-8CEFA5BEB7D8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427DF84-1A59-10B5-A63C-B0DC92103262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74143E8-C469-4303-9377-C075F72DA16E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A2CEAAD-FADF-D8D2-6DAC-C13BEE19184E}"/>
              </a:ext>
            </a:extLst>
          </p:cNvPr>
          <p:cNvSpPr/>
          <p:nvPr/>
        </p:nvSpPr>
        <p:spPr>
          <a:xfrm>
            <a:off x="4167044" y="622355"/>
            <a:ext cx="3957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63710A-C81D-2DE5-E6E6-E404A8AF611A}"/>
              </a:ext>
            </a:extLst>
          </p:cNvPr>
          <p:cNvSpPr txBox="1"/>
          <p:nvPr/>
        </p:nvSpPr>
        <p:spPr>
          <a:xfrm>
            <a:off x="289977" y="1394343"/>
            <a:ext cx="387391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Faster MVP &amp; Prototype Creation</a:t>
            </a:r>
            <a:r>
              <a:rPr lang="en-US" sz="1600" dirty="0"/>
              <a:t> – Enables startups and businesses to quickly test ideas and bring products to market with minimal effort.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600" dirty="0">
              <a:latin typeface="Aptos Display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Automated Deployment &amp; Hosting</a:t>
            </a:r>
            <a:r>
              <a:rPr lang="en-US" sz="1600" dirty="0"/>
              <a:t> – Assists in deploying applications to cloud platforms, reducing manual setup efforts.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Aptos Display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Cost Efficiency</a:t>
            </a:r>
            <a:r>
              <a:rPr lang="en-US" sz="1600" dirty="0"/>
              <a:t> – Cuts down the need for large development teams, reducing costs for businesses and entrepreneurs.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Aptos Display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Continuous Learning &amp; Adaptation</a:t>
            </a:r>
            <a:r>
              <a:rPr lang="en-US" sz="1600" dirty="0"/>
              <a:t> – Improves over time by learning from user interactions and adapting to different development needs.</a:t>
            </a:r>
            <a:endParaRPr lang="en-IN" sz="1600" dirty="0">
              <a:latin typeface="Aptos Display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012B03-C762-C5DC-2832-DF89457960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529" y="1084368"/>
            <a:ext cx="6408483" cy="526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625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D5BA5-A850-B6E1-CDA2-6B8E62679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E6B36D01-16AD-D580-BCEB-77B0D36B99DA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635486-8DE1-A8B3-51B9-4CE2DB8B7F8A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0AD5D9EE-2D51-7A78-EE64-79BE643E7E9F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8B2D48-06CE-CF35-9472-2E387CEC6387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PBL, 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A.Y. 2024-25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1DC812-9100-4791-44ED-4C0CDDCA7211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221CDC-1EC3-9F87-9068-112BD96280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09EBA611-FDC6-3034-8678-689C96BCD24F}"/>
              </a:ext>
            </a:extLst>
          </p:cNvPr>
          <p:cNvSpPr txBox="1"/>
          <p:nvPr/>
        </p:nvSpPr>
        <p:spPr>
          <a:xfrm>
            <a:off x="3494147" y="30421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92320B5E-7771-CF4A-2BAB-E6603665EF78}"/>
              </a:ext>
            </a:extLst>
          </p:cNvPr>
          <p:cNvSpPr txBox="1">
            <a:spLocks/>
          </p:cNvSpPr>
          <p:nvPr/>
        </p:nvSpPr>
        <p:spPr>
          <a:xfrm>
            <a:off x="1724229" y="344136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90CA3E-0561-1131-E56B-72050F8929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F10727BD-1F1F-70D5-31C1-FA29DEC691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27480" y="68478"/>
            <a:ext cx="993750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C047D-0040-AA6E-FC57-561C9D1C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E4771A2-CE85-D01D-C646-141FAA9EB2EC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CE8EA93-0306-C2CF-C381-C2CD4F123951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1251A5F-5DF7-A06D-E8D2-7ADF8B81270D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CED3E44-A80D-72CC-6BA9-553503B0E1D0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29E60E4-E953-D6AB-495E-E48841402CF3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08DBC8D-AFCD-C0EF-0747-9BE304E6D20A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467F847-4B04-F49F-3428-E327A416A881}"/>
              </a:ext>
            </a:extLst>
          </p:cNvPr>
          <p:cNvSpPr/>
          <p:nvPr/>
        </p:nvSpPr>
        <p:spPr>
          <a:xfrm>
            <a:off x="4167044" y="622355"/>
            <a:ext cx="3957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0D1B3E-8771-08A6-9244-1D3D1E63205B}"/>
              </a:ext>
            </a:extLst>
          </p:cNvPr>
          <p:cNvSpPr txBox="1"/>
          <p:nvPr/>
        </p:nvSpPr>
        <p:spPr>
          <a:xfrm>
            <a:off x="289977" y="1535921"/>
            <a:ext cx="913856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/>
              <a:t>CodeFlow AI revolutionizes full-stack development by enabling users to create applications through natural language prompts, AI-driven self-coding, and automated debugging. It removes technical barriers, boosts productivity, and accelerates software development. By seamlessly integrating human creativity with AI intelligence, CodeFlow AI paves the way for a more efficient, accessible, and scalable future in software engineering.</a:t>
            </a:r>
            <a:endParaRPr lang="en-IN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50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3C8CC-267C-DD4D-158C-812728DC1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95403AD7-D05D-106D-D9C5-810B16692A13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CF5496-F90D-F7F0-5EEA-9F3B3A466F68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E3AD7E4E-459B-121B-1EFB-75FDA6B697A1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397C4D-041F-B20C-3A1F-0E8181B51934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PBL, 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A.Y. 2024-25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0C7EA2-DDD5-02CF-8E45-B317A0E3B879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BE96C4-0DFE-7FB2-E136-DE0BD643E5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5AA76790-67FC-9B44-CBB4-5E8FB024AE4D}"/>
              </a:ext>
            </a:extLst>
          </p:cNvPr>
          <p:cNvSpPr txBox="1"/>
          <p:nvPr/>
        </p:nvSpPr>
        <p:spPr>
          <a:xfrm>
            <a:off x="3494147" y="30421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2FCAA081-1DBF-F3C0-BD9F-F0E0547C0D25}"/>
              </a:ext>
            </a:extLst>
          </p:cNvPr>
          <p:cNvSpPr txBox="1">
            <a:spLocks/>
          </p:cNvSpPr>
          <p:nvPr/>
        </p:nvSpPr>
        <p:spPr>
          <a:xfrm>
            <a:off x="1724229" y="344136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5A9F68-F60C-F951-CCC6-23CB2E9E30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D9AC171B-875A-E575-5195-A2E2C02983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27480" y="68478"/>
            <a:ext cx="993750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FD00A-FECE-8561-85A5-7546F0D4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5913A4-A2DA-CF31-412F-F930EF9115A1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E623B40-B806-BFF0-2DC9-0A7415BF64A6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0597141-0592-B29F-C185-72DD69C0DA10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C546957-B62A-9A88-87F6-A2DFEBD1C395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CDE602E-D1D7-8A08-874C-CBFBF08D873B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6F1DD42-F092-8C7E-DE8C-A340C336B0D6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5326EC1-420D-D39E-F553-40A5C7D20C50}"/>
              </a:ext>
            </a:extLst>
          </p:cNvPr>
          <p:cNvSpPr/>
          <p:nvPr/>
        </p:nvSpPr>
        <p:spPr>
          <a:xfrm>
            <a:off x="4167044" y="622355"/>
            <a:ext cx="3957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40C4BC-A386-0FA7-EE1B-166AB0D386AA}"/>
              </a:ext>
            </a:extLst>
          </p:cNvPr>
          <p:cNvSpPr txBox="1"/>
          <p:nvPr/>
        </p:nvSpPr>
        <p:spPr>
          <a:xfrm>
            <a:off x="307466" y="1378067"/>
            <a:ext cx="990574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Research papers</a:t>
            </a:r>
            <a:r>
              <a:rPr lang="en-I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 Comparative Review of AI Techniques for Automated Code Generation in Software Development: Advancements, Challenges, and Future Directions</a:t>
            </a:r>
            <a:br>
              <a:rPr lang="en-US" dirty="0"/>
            </a:br>
            <a:r>
              <a:rPr lang="en-US" dirty="0"/>
              <a:t>This paper offers a comprehensive review of traditional and AI techniques used for automated code generation (ACG), discussing their challenges and limitations. It provides insights into how AI can enhance productivity in software development.</a:t>
            </a:r>
            <a:r>
              <a:rPr lang="en-IN" dirty="0"/>
              <a:t>   </a:t>
            </a:r>
          </a:p>
          <a:p>
            <a:r>
              <a:rPr lang="en-IN" i="1" dirty="0"/>
              <a:t>     Link: </a:t>
            </a:r>
            <a:r>
              <a:rPr lang="en-IN" i="1" dirty="0">
                <a:hlinkClick r:id="rId6"/>
              </a:rPr>
              <a:t>https://www.researchgate.net/publication/378542081_A_Comparative_Review_of_AI_Techniques_for_Automated_Code_Generation_in_Software_Development_Advancements_Challenges_and_Future_Directions</a:t>
            </a:r>
            <a:endParaRPr lang="en-IN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AI-Assisted Code Generation and Optimization</a:t>
            </a:r>
            <a:br>
              <a:rPr lang="en-US" dirty="0"/>
            </a:br>
            <a:r>
              <a:rPr lang="en-US" dirty="0"/>
              <a:t>This paper explores AI-driven code generation and optimization, highlighting how automating the code generation process can address various software development challenges and increase productivity.</a:t>
            </a:r>
            <a:endParaRPr lang="en-IN" dirty="0"/>
          </a:p>
          <a:p>
            <a:r>
              <a:rPr lang="en-IN" i="1" dirty="0"/>
              <a:t>      Link:</a:t>
            </a:r>
            <a:r>
              <a:rPr lang="en-IN" dirty="0"/>
              <a:t> </a:t>
            </a:r>
            <a:r>
              <a:rPr lang="en-IN" dirty="0">
                <a:hlinkClick r:id="rId7"/>
              </a:rPr>
              <a:t>https://repo.ijiert.org/index.php/ijiert/article/view/1334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Future of Software Development with Generative AI</a:t>
            </a:r>
            <a:br>
              <a:rPr lang="en-US" dirty="0"/>
            </a:br>
            <a:r>
              <a:rPr lang="en-US" dirty="0"/>
              <a:t>development paths, proposing primary scenarios and model trajectories.</a:t>
            </a:r>
            <a:br>
              <a:rPr lang="en-US" dirty="0"/>
            </a:br>
            <a:r>
              <a:rPr lang="en-US" i="1" dirty="0"/>
              <a:t>Link:</a:t>
            </a:r>
            <a:r>
              <a:rPr lang="en-US" dirty="0"/>
              <a:t> </a:t>
            </a:r>
            <a:r>
              <a:rPr lang="en-US" dirty="0">
                <a:hlinkClick r:id="rId8"/>
              </a:rPr>
              <a:t>https://link.springer.com/article/10.1007/s10515-024-00426-z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F4CF4-C6C6-0131-1025-4FA94A992D57}"/>
              </a:ext>
            </a:extLst>
          </p:cNvPr>
          <p:cNvSpPr txBox="1"/>
          <p:nvPr/>
        </p:nvSpPr>
        <p:spPr>
          <a:xfrm>
            <a:off x="186360" y="1052063"/>
            <a:ext cx="292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sz="2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89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A3D52-214D-92BA-4D6A-129077CE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33FDED4A-9B0A-1E9A-59EE-F25C77065206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F7BAC4C-7E66-CA2F-20BB-14D37570FFB4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5FDEEC64-1473-8412-E36B-4EDB45B21616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6D03D-635F-DE8E-FB6C-37AFCAA826C1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PBL, 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A.Y. 2024-25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23F733-ABC2-9A40-5996-6C92E960737C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B527F4-85CD-F845-E3BF-0B020149131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2D9ECE25-EE77-E7E1-868C-490EB6A570C6}"/>
              </a:ext>
            </a:extLst>
          </p:cNvPr>
          <p:cNvSpPr txBox="1"/>
          <p:nvPr/>
        </p:nvSpPr>
        <p:spPr>
          <a:xfrm>
            <a:off x="3494147" y="30421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FEFF93B4-1703-3103-3631-315C69F6898F}"/>
              </a:ext>
            </a:extLst>
          </p:cNvPr>
          <p:cNvSpPr txBox="1">
            <a:spLocks/>
          </p:cNvSpPr>
          <p:nvPr/>
        </p:nvSpPr>
        <p:spPr>
          <a:xfrm>
            <a:off x="1724229" y="344136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B0856F-F8F4-734F-8ED3-CCEB681A2F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6FE6DCF6-22E6-678B-B8D3-1A36743E13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27480" y="68478"/>
            <a:ext cx="993750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3AFF1-A8FD-8E86-FA49-4185D045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E585BD3-24DF-0D49-9329-577421FDE513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C8BF6F0-BE7C-5C60-7ED1-0C5E4419A987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E8A1F09-7CF3-6A0E-7AC7-121C6D975363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F861AF7-A4ED-2C30-B630-9F76485D5297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FC4D499-92DD-8C7F-E179-69D59A89790A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2E35C75-100C-597E-9FF6-1E0E4ACF1818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2363FBD-7972-4506-E969-3E3C40C8A4D8}"/>
              </a:ext>
            </a:extLst>
          </p:cNvPr>
          <p:cNvSpPr/>
          <p:nvPr/>
        </p:nvSpPr>
        <p:spPr>
          <a:xfrm>
            <a:off x="4167044" y="622355"/>
            <a:ext cx="3957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0A9B9A-6617-C01C-6849-154619BCB66C}"/>
              </a:ext>
            </a:extLst>
          </p:cNvPr>
          <p:cNvSpPr txBox="1"/>
          <p:nvPr/>
        </p:nvSpPr>
        <p:spPr>
          <a:xfrm>
            <a:off x="2509813" y="3075057"/>
            <a:ext cx="6521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altLang="en-US" sz="4000" b="1" dirty="0">
                <a:latin typeface="Cambria" panose="02040503050406030204" pitchFamily="18" charset="0"/>
                <a:cs typeface="Cambria" panose="02040503050406030204" pitchFamily="18" charset="0"/>
              </a:rPr>
              <a:t>Thank you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247968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1202</Words>
  <Application>Microsoft Office PowerPoint</Application>
  <PresentationFormat>Widescreen</PresentationFormat>
  <Paragraphs>168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 Display</vt:lpstr>
      <vt:lpstr>Arial</vt:lpstr>
      <vt:lpstr>Arial Black</vt:lpstr>
      <vt:lpstr>Calibri</vt:lpstr>
      <vt:lpstr>Calibri Light</vt:lpstr>
      <vt:lpstr>Cambria</vt:lpstr>
      <vt:lpstr>Courier New</vt:lpstr>
      <vt:lpstr>Times New Roman</vt:lpstr>
      <vt:lpstr>Trebuchet MS</vt:lpstr>
      <vt:lpstr>Wingdings</vt:lpstr>
      <vt:lpstr>Office Theme</vt:lpstr>
      <vt:lpstr>NUTAN MAHARASHTRA INSTITUTE OF ENGINEERING &amp; TECHNOLOGY, PUNE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NUTAN MAHARASHTRA INSTITUTE OF ENGINEERING &amp; TECHNOLOGY, PUNE</dc:title>
  <dc:creator>Windows User</dc:creator>
  <cp:lastModifiedBy>Mayur Zope</cp:lastModifiedBy>
  <cp:revision>38</cp:revision>
  <dcterms:created xsi:type="dcterms:W3CDTF">2024-07-16T08:06:34Z</dcterms:created>
  <dcterms:modified xsi:type="dcterms:W3CDTF">2025-03-21T02:56:39Z</dcterms:modified>
</cp:coreProperties>
</file>